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9" r:id="rId11"/>
    <p:sldId id="270" r:id="rId12"/>
    <p:sldId id="271" r:id="rId13"/>
    <p:sldId id="264" r:id="rId14"/>
    <p:sldId id="265" r:id="rId15"/>
    <p:sldId id="266" r:id="rId16"/>
    <p:sldId id="267" r:id="rId17"/>
    <p:sldId id="272" r:id="rId18"/>
    <p:sldId id="268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3271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17856" y="17830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3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Design of a Fashion Retail Trend and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38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Seasonal Demand Visualization Platform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78684" y="47053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PRESENTED BY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78684" y="5212816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04656" y="50932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Roja [192424226]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92873" y="5577840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404656" y="543153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 Arshini [192424322] 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17047" y="5897144"/>
            <a:ext cx="91440" cy="91440"/>
          </a:xfrm>
          <a:prstGeom prst="ellipse">
            <a:avLst/>
          </a:prstGeom>
          <a:solidFill>
            <a:srgbClr val="F9E795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404656" y="5769864"/>
            <a:ext cx="2377440" cy="292608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Akshaya R [192524118]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7FD5C8-99A2-51F3-F919-9E569C1E3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86" y="262890"/>
            <a:ext cx="11508828" cy="1623060"/>
          </a:xfrm>
          <a:prstGeom prst="rect">
            <a:avLst/>
          </a:prstGeom>
        </p:spPr>
      </p:pic>
      <p:sp>
        <p:nvSpPr>
          <p:cNvPr id="23" name="Text 5">
            <a:extLst>
              <a:ext uri="{FF2B5EF4-FFF2-40B4-BE49-F238E27FC236}">
                <a16:creationId xmlns:a16="http://schemas.microsoft.com/office/drawing/2014/main" id="{5F65835C-D9B3-5ACC-0A86-44433A651761}"/>
              </a:ext>
            </a:extLst>
          </p:cNvPr>
          <p:cNvSpPr/>
          <p:nvPr/>
        </p:nvSpPr>
        <p:spPr>
          <a:xfrm>
            <a:off x="819807" y="5172479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GUIDED BY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b="1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 S Senthilvadivu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B753BE-70C0-FA44-282E-7AB2506AB632}"/>
              </a:ext>
            </a:extLst>
          </p:cNvPr>
          <p:cNvSpPr txBox="1"/>
          <p:nvPr/>
        </p:nvSpPr>
        <p:spPr>
          <a:xfrm>
            <a:off x="717855" y="3795653"/>
            <a:ext cx="88255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i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DSA0601-Data Handling and Visualization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137439A-CB74-6413-C011-22671C728D9D}"/>
              </a:ext>
            </a:extLst>
          </p:cNvPr>
          <p:cNvCxnSpPr>
            <a:cxnSpLocks/>
          </p:cNvCxnSpPr>
          <p:nvPr/>
        </p:nvCxnSpPr>
        <p:spPr>
          <a:xfrm>
            <a:off x="819807" y="3529214"/>
            <a:ext cx="71470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INTRODUCTION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78040" y="1362456"/>
            <a:ext cx="4480560" cy="4736592"/>
          </a:xfrm>
          <a:prstGeom prst="roundRect">
            <a:avLst>
              <a:gd name="adj" fmla="val 2857"/>
            </a:avLst>
          </a:prstGeom>
          <a:solidFill>
            <a:srgbClr val="FCF6F5"/>
          </a:solidFill>
          <a:ln w="19050">
            <a:solidFill>
              <a:srgbClr val="F9E795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0" descr="/home/claude/capstone/art_r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26464"/>
            <a:ext cx="4114800" cy="32004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360920" y="4818888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retail: diverse, fast-changing product mix</a:t>
            </a:r>
            <a:endParaRPr lang="en-US" sz="1200" dirty="0"/>
          </a:p>
        </p:txBody>
      </p:sp>
      <p:pic>
        <p:nvPicPr>
          <p:cNvPr id="25" name="Picture 24" descr="SIMATS CGPA Calculator">
            <a:extLst>
              <a:ext uri="{FF2B5EF4-FFF2-40B4-BE49-F238E27FC236}">
                <a16:creationId xmlns:a16="http://schemas.microsoft.com/office/drawing/2014/main" id="{8884E4E0-32C5-2E25-56C1-DDF3E618D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96332"/>
            <a:ext cx="1217623" cy="1038108"/>
          </a:xfrm>
          <a:prstGeom prst="rect">
            <a:avLst/>
          </a:prstGeom>
        </p:spPr>
      </p:pic>
      <p:pic>
        <p:nvPicPr>
          <p:cNvPr id="26" name="Picture 25" descr="SIMATS Transport - Apps on Google Play">
            <a:extLst>
              <a:ext uri="{FF2B5EF4-FFF2-40B4-BE49-F238E27FC236}">
                <a16:creationId xmlns:a16="http://schemas.microsoft.com/office/drawing/2014/main" id="{E6F60723-5237-3DAA-E0E0-FC6D66606E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C642C51-9D56-DC24-24AB-B7F564E47D27}"/>
              </a:ext>
            </a:extLst>
          </p:cNvPr>
          <p:cNvSpPr txBox="1"/>
          <p:nvPr/>
        </p:nvSpPr>
        <p:spPr>
          <a:xfrm>
            <a:off x="437512" y="1541915"/>
            <a:ext cx="64767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retail generates large amounts of sales data from different products, categories, styles, seasons, prices, and customer preferences.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demand changes according to seasons and fashion trends. Products that are popular in one season may have lower demand in another season.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sales data is difficult to understand directly. Therefore, the data needs to be cleaned, organized, and categorized before analysis.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helps us understand important patterns easily. Our project uses Violin Plots, Sunburst Charts, Time-Series Graphs, Moving Averages, and Bubble Charts.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 analysis and Moving Average techniques help us understand demand patterns over time and identify seasonal demand peaks and changes.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platform provides useful insights about categories, styles, seasonal demand, and price-popularity relationships, which can help retailers make better merchandising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SIMATS Transport - Apps on Google Play">
            <a:extLst>
              <a:ext uri="{FF2B5EF4-FFF2-40B4-BE49-F238E27FC236}">
                <a16:creationId xmlns:a16="http://schemas.microsoft.com/office/drawing/2014/main" id="{F67A1885-F5BF-A1D8-AD94-F84E144E7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33" name="Picture 32" descr="SIMATS CGPA Calculator">
            <a:extLst>
              <a:ext uri="{FF2B5EF4-FFF2-40B4-BE49-F238E27FC236}">
                <a16:creationId xmlns:a16="http://schemas.microsoft.com/office/drawing/2014/main" id="{37311E6F-1E8A-5A52-D644-34DCAFDA7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96332"/>
            <a:ext cx="1217623" cy="1038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835078-99E7-AE9A-C4E5-5803B85DEDC3}"/>
              </a:ext>
            </a:extLst>
          </p:cNvPr>
          <p:cNvSpPr txBox="1"/>
          <p:nvPr/>
        </p:nvSpPr>
        <p:spPr>
          <a:xfrm>
            <a:off x="1517811" y="1588941"/>
            <a:ext cx="9153330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retailers have a large amount of sales data, but it is difficult to understand this data directly.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changes from month to month, so retailers may find it difficult to know which products will be in high demand.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difficult to understand which categories and styles are more popular.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relationship between product price and popularity is not always clear.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analysis, retailers may face problems in planning their stock and making merchandising decisions.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our project aims to analyze and visualize fashion sales data to identify seasonal demand, popular styles, sales trends, and price-popularity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OBJECTIVES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SIMATS Transport - Apps on Google Play">
            <a:extLst>
              <a:ext uri="{FF2B5EF4-FFF2-40B4-BE49-F238E27FC236}">
                <a16:creationId xmlns:a16="http://schemas.microsoft.com/office/drawing/2014/main" id="{10DC2964-3824-4A7A-3AB0-A63D0E1F7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33" name="Picture 32" descr="SIMATS CGPA Calculator">
            <a:extLst>
              <a:ext uri="{FF2B5EF4-FFF2-40B4-BE49-F238E27FC236}">
                <a16:creationId xmlns:a16="http://schemas.microsoft.com/office/drawing/2014/main" id="{7F32122F-48D0-B2D6-A0AE-2C4B83083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96332"/>
            <a:ext cx="1217623" cy="1038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F06F66-AB27-F71E-0BC4-91A84C695263}"/>
              </a:ext>
            </a:extLst>
          </p:cNvPr>
          <p:cNvSpPr txBox="1"/>
          <p:nvPr/>
        </p:nvSpPr>
        <p:spPr>
          <a:xfrm>
            <a:off x="466531" y="1900371"/>
            <a:ext cx="72498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collect and clean fashion retail sales data using Power Bi.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categorize the data based on category, style, and season.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seasonal sales distribution using Violin Plots.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visualize category and style proportions using Sunburst Charts.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monthly sales trends and forecast demand using Time-Series and Moving Average techniques.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relationship between product price and popularity using Bubble Charts.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useful visual insights that can help retailers make better merchandising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4EA50-765D-74A1-BC75-120E72E66A65}"/>
              </a:ext>
            </a:extLst>
          </p:cNvPr>
          <p:cNvSpPr txBox="1"/>
          <p:nvPr/>
        </p:nvSpPr>
        <p:spPr>
          <a:xfrm>
            <a:off x="7912359" y="2180564"/>
            <a:ext cx="400283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Query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/ CSV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DAX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(Data Analysis Expressions) for calculated measures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Transformation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Average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MATS Transport - Apps on Google Play">
            <a:extLst>
              <a:ext uri="{FF2B5EF4-FFF2-40B4-BE49-F238E27FC236}">
                <a16:creationId xmlns:a16="http://schemas.microsoft.com/office/drawing/2014/main" id="{445A48F9-781B-B344-C237-82303A171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5" name="Picture 4" descr="SIMATS CGPA Calculator">
            <a:extLst>
              <a:ext uri="{FF2B5EF4-FFF2-40B4-BE49-F238E27FC236}">
                <a16:creationId xmlns:a16="http://schemas.microsoft.com/office/drawing/2014/main" id="{35D4B21E-F9F5-3220-10AB-DC1C1C017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97" y="196332"/>
            <a:ext cx="1217623" cy="1038108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3D5D8ACB-6084-B6FE-F467-13E777902053}"/>
              </a:ext>
            </a:extLst>
          </p:cNvPr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LITERATURE REVIEW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A6BB25-6634-1ED4-EB78-8EB37DA3CC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672076"/>
              </p:ext>
            </p:extLst>
          </p:nvPr>
        </p:nvGraphicFramePr>
        <p:xfrm>
          <a:off x="948361" y="1557261"/>
          <a:ext cx="10691951" cy="4964338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582743">
                  <a:extLst>
                    <a:ext uri="{9D8B030D-6E8A-4147-A177-3AD203B41FA5}">
                      <a16:colId xmlns:a16="http://schemas.microsoft.com/office/drawing/2014/main" val="387583827"/>
                    </a:ext>
                  </a:extLst>
                </a:gridCol>
                <a:gridCol w="2527302">
                  <a:extLst>
                    <a:ext uri="{9D8B030D-6E8A-4147-A177-3AD203B41FA5}">
                      <a16:colId xmlns:a16="http://schemas.microsoft.com/office/drawing/2014/main" val="168321662"/>
                    </a:ext>
                  </a:extLst>
                </a:gridCol>
                <a:gridCol w="2527302">
                  <a:extLst>
                    <a:ext uri="{9D8B030D-6E8A-4147-A177-3AD203B41FA5}">
                      <a16:colId xmlns:a16="http://schemas.microsoft.com/office/drawing/2014/main" val="420539562"/>
                    </a:ext>
                  </a:extLst>
                </a:gridCol>
                <a:gridCol w="2527302">
                  <a:extLst>
                    <a:ext uri="{9D8B030D-6E8A-4147-A177-3AD203B41FA5}">
                      <a16:colId xmlns:a16="http://schemas.microsoft.com/office/drawing/2014/main" val="3050015801"/>
                    </a:ext>
                  </a:extLst>
                </a:gridCol>
                <a:gridCol w="2527302">
                  <a:extLst>
                    <a:ext uri="{9D8B030D-6E8A-4147-A177-3AD203B41FA5}">
                      <a16:colId xmlns:a16="http://schemas.microsoft.com/office/drawing/2014/main" val="2081127912"/>
                    </a:ext>
                  </a:extLst>
                </a:gridCol>
              </a:tblGrid>
              <a:tr h="30980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Approach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Research Gap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072527924"/>
                  </a:ext>
                </a:extLst>
              </a:tr>
              <a:tr h="840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Koren, Perlman &amp; Shnaiderman (2026)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Social-network-based demand prediction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Social-network information can improve demand prediction for substitutable fashion products.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social-network data and advanced prediction techniques.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997936721"/>
                  </a:ext>
                </a:extLst>
              </a:tr>
              <a:tr h="840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Abeysooriya, Dahanayake Yapa &amp; Mataraarachchi (2026)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Algorithmic and intelligent retailing approaches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the shift from traditional rule-based methods toward intelligent approaches in fashion retailing.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directly provide an interactive visualization platform.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786970424"/>
                  </a:ext>
                </a:extLst>
              </a:tr>
              <a:tr h="840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Kayode, Luz &amp; Herry (2025)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analytics and smart technology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analytics can improve fashion demand forecasting and support sustainable decisions.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predictive analytics rather than integrated visual analysis.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3842878447"/>
                  </a:ext>
                </a:extLst>
              </a:tr>
              <a:tr h="7081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Castro &amp; do Amaral (2025)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trend forecasting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the growing role of AI in identifying and forecasting fashion trends.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visualization and dashboard implementation are not the main focus.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4000696862"/>
                  </a:ext>
                </a:extLst>
              </a:tr>
              <a:tr h="13719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(2026)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cleaning, category tagging, Violin Plot, Sunburst Chart, Time-Series, Moving Average and Bubble Chart using Power BI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seasonal demand, category/style proportions, monthly trends, forecasting and price-popularity analysis in one interactive dashboard.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 forecasting, real-time data and personalized recommendations can be added in future.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801502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909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137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ARCHITECTURE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 descr="SIMATS Transport - Apps on Google Play">
            <a:extLst>
              <a:ext uri="{FF2B5EF4-FFF2-40B4-BE49-F238E27FC236}">
                <a16:creationId xmlns:a16="http://schemas.microsoft.com/office/drawing/2014/main" id="{5CAF2251-2874-4017-B89D-FDADA544B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46" name="Picture 45" descr="SIMATS CGPA Calculator">
            <a:extLst>
              <a:ext uri="{FF2B5EF4-FFF2-40B4-BE49-F238E27FC236}">
                <a16:creationId xmlns:a16="http://schemas.microsoft.com/office/drawing/2014/main" id="{6F662EE5-048D-F19B-BFE1-5D1277448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96332"/>
            <a:ext cx="1217623" cy="1038108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D77B73D-E118-F674-8E41-C7386192F2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9608" y="1172220"/>
            <a:ext cx="4758611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08092" y="1691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03271" y="653796"/>
            <a:ext cx="8154977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Fashion Sales Data Wrangling &amp; Category Tagging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63640" y="4005072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FCF6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64808" y="56647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pic>
        <p:nvPicPr>
          <p:cNvPr id="35" name="Picture 34" descr="SIMATS Transport - Apps on Google Play">
            <a:extLst>
              <a:ext uri="{FF2B5EF4-FFF2-40B4-BE49-F238E27FC236}">
                <a16:creationId xmlns:a16="http://schemas.microsoft.com/office/drawing/2014/main" id="{B37064EC-A2D4-8265-BCD1-E3F08ED02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37" name="Picture 36" descr="SIMATS CGPA Calculator">
            <a:extLst>
              <a:ext uri="{FF2B5EF4-FFF2-40B4-BE49-F238E27FC236}">
                <a16:creationId xmlns:a16="http://schemas.microsoft.com/office/drawing/2014/main" id="{A540D3A6-F20C-BDDA-F763-89D120F0D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18872"/>
            <a:ext cx="1217623" cy="103810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6BDFB88-5C44-50E1-218E-8E429726F276}"/>
              </a:ext>
            </a:extLst>
          </p:cNvPr>
          <p:cNvSpPr txBox="1"/>
          <p:nvPr/>
        </p:nvSpPr>
        <p:spPr>
          <a:xfrm>
            <a:off x="901088" y="1416257"/>
            <a:ext cx="10711792" cy="4854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clean, organize, and categorize fashion sales data so that it can be easily analyzed and visualized.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Collection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fashion sales data containing category, style, season, sales volume, price, popularity score, and month.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Cleaning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duplicate records and handle missing or incorrect values using Pandas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Data Organization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Arrange the cleaned data in a proper and consistent format for analysis.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Category Tagging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products based on category, style, and season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Data Preparation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final cleaned and categorized dataset for seasonal analysis, trend forecasting, and price-popularity analysis.</a:t>
            </a:r>
            <a:endParaRPr lang="en-IN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87340" y="23317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644140" y="530352"/>
            <a:ext cx="6903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Seasonal Demand Distribution &amp; Proportion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18120" y="1856792"/>
            <a:ext cx="3840480" cy="4030824"/>
          </a:xfrm>
          <a:prstGeom prst="roundRect">
            <a:avLst>
              <a:gd name="adj" fmla="val 3333"/>
            </a:avLst>
          </a:prstGeom>
          <a:solidFill>
            <a:srgbClr val="FCF6F5"/>
          </a:solidFill>
          <a:ln w="19050">
            <a:solidFill>
              <a:srgbClr val="028090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20" name="Image 0" descr="/home/claude/capstone/art_seas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2029408"/>
            <a:ext cx="3529584" cy="2743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973568" y="4160520"/>
            <a:ext cx="3529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shifts across Spring, Summer,</a:t>
            </a:r>
            <a:endParaRPr lang="en-US" sz="1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Autumn, and Winter collections</a:t>
            </a:r>
            <a:endParaRPr lang="en-US" sz="1200" dirty="0"/>
          </a:p>
        </p:txBody>
      </p:sp>
      <p:pic>
        <p:nvPicPr>
          <p:cNvPr id="29" name="Picture 28" descr="SIMATS Transport - Apps on Google Play">
            <a:extLst>
              <a:ext uri="{FF2B5EF4-FFF2-40B4-BE49-F238E27FC236}">
                <a16:creationId xmlns:a16="http://schemas.microsoft.com/office/drawing/2014/main" id="{83CC4BA0-257D-89F9-B8D8-505C1D042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6125" y="101600"/>
            <a:ext cx="2357647" cy="1074928"/>
          </a:xfrm>
          <a:prstGeom prst="rect">
            <a:avLst/>
          </a:prstGeom>
        </p:spPr>
      </p:pic>
      <p:pic>
        <p:nvPicPr>
          <p:cNvPr id="31" name="Picture 30" descr="SIMATS CGPA Calculator">
            <a:extLst>
              <a:ext uri="{FF2B5EF4-FFF2-40B4-BE49-F238E27FC236}">
                <a16:creationId xmlns:a16="http://schemas.microsoft.com/office/drawing/2014/main" id="{2D72D77E-A08A-B87A-3B8B-8EA7D7044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32507C8-983C-96DF-06A6-83140BE4E643}"/>
              </a:ext>
            </a:extLst>
          </p:cNvPr>
          <p:cNvSpPr txBox="1"/>
          <p:nvPr/>
        </p:nvSpPr>
        <p:spPr>
          <a:xfrm>
            <a:off x="347471" y="1430543"/>
            <a:ext cx="7315201" cy="5244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seasonal sales demand and understand the proportion of different categories and styles.</a:t>
            </a:r>
          </a:p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Analyze Seasonal Sales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Compare sales volume across different seasons such as Spring, Summer, Autumn, and Winter.</a:t>
            </a:r>
          </a:p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Violin Plots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 violin plots to visualize the distribution and variation of sales across different seasons.</a:t>
            </a:r>
          </a:p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Analyze Category Proportion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Identify how different fashion categories contribute to the overall sales.</a:t>
            </a:r>
          </a:p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Analyze Style Proportion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Study how different styles are distributed within each fashion category.</a:t>
            </a:r>
          </a:p>
          <a:p>
            <a:pPr algn="just">
              <a:lnSpc>
                <a:spcPct val="150000"/>
              </a:lnSpc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Create Sunburst Chart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 a Sunburst Chart to show the relationship between Category, Style, and their sales proportion.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3063" y="193051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1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MODULE 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748239" y="536883"/>
            <a:ext cx="5966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Trend Forecasting &amp; Style Association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 descr="SIMATS Transport - Apps on Google Play">
            <a:extLst>
              <a:ext uri="{FF2B5EF4-FFF2-40B4-BE49-F238E27FC236}">
                <a16:creationId xmlns:a16="http://schemas.microsoft.com/office/drawing/2014/main" id="{76FAD4DD-7A54-6FB0-05FB-C120EA1D7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37" name="Picture 36" descr="SIMATS CGPA Calculator">
            <a:extLst>
              <a:ext uri="{FF2B5EF4-FFF2-40B4-BE49-F238E27FC236}">
                <a16:creationId xmlns:a16="http://schemas.microsoft.com/office/drawing/2014/main" id="{7E08AE30-80A2-2E17-8BCD-32AE0173D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80C3E4F5-C277-9A0B-6F99-81D0FC6399FD}"/>
              </a:ext>
            </a:extLst>
          </p:cNvPr>
          <p:cNvSpPr txBox="1"/>
          <p:nvPr/>
        </p:nvSpPr>
        <p:spPr>
          <a:xfrm>
            <a:off x="1266577" y="1401457"/>
            <a:ext cx="9658845" cy="5218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fashion demand trends over time, forecast future demand patterns, and study the relationship between price and product popularity.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Activities: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Analyze Monthly Demand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Study sales volume month by month to identify increasing and decreasing demand patterns.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Create Time-Series Visualizations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 multiple time-series graphs to compare demand trends for different categories and styles.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Apply Moving Average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 Moving Average to smooth sales fluctuations and identify the overall demand trend.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Analyze Price vs Popularity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Study the relationship between product price, popularity score, and sales volume.</a:t>
            </a:r>
          </a:p>
          <a:p>
            <a:pPr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Create Bubble Chart</a:t>
            </a:r>
          </a:p>
          <a:p>
            <a:pPr algn="just"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Use a Bubble Chart to visualize price versus popularity, with bubble size representing sales volume.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MATS Transport - Apps on Google Play">
            <a:extLst>
              <a:ext uri="{FF2B5EF4-FFF2-40B4-BE49-F238E27FC236}">
                <a16:creationId xmlns:a16="http://schemas.microsoft.com/office/drawing/2014/main" id="{E4224556-9EF3-06E7-ED3C-3B02C4D10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7" name="Picture 6" descr="SIMATS CGPA Calculator">
            <a:extLst>
              <a:ext uri="{FF2B5EF4-FFF2-40B4-BE49-F238E27FC236}">
                <a16:creationId xmlns:a16="http://schemas.microsoft.com/office/drawing/2014/main" id="{055ED685-7B89-21C8-1E63-F9C9B35A5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F94588-31AC-3EF0-9D74-157164F37C61}"/>
              </a:ext>
            </a:extLst>
          </p:cNvPr>
          <p:cNvSpPr txBox="1"/>
          <p:nvPr/>
        </p:nvSpPr>
        <p:spPr>
          <a:xfrm>
            <a:off x="2864497" y="227076"/>
            <a:ext cx="648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Output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23F704-4280-EB22-6173-8CA7BE7DB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580" y="1408922"/>
            <a:ext cx="7417836" cy="51261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E3B7D8-9676-242A-F9F2-4425B277B1D3}"/>
              </a:ext>
            </a:extLst>
          </p:cNvPr>
          <p:cNvSpPr txBox="1"/>
          <p:nvPr/>
        </p:nvSpPr>
        <p:spPr>
          <a:xfrm>
            <a:off x="7716416" y="2059105"/>
            <a:ext cx="4329404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Sales: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overall sales volume generated from the fashion retail dataset.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Products: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total number of products/styles available in the dataset.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average selling price of the products.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Popularity: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average popularity score of the products.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Sales Distribution: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sales performance across different seasons.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Category: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which product categories contribute most to sales.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Sales Proportion: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contribution of different styles to total sales. </a:t>
            </a:r>
          </a:p>
          <a:p>
            <a:pPr lvl="0"/>
            <a:r>
              <a:rPr lang="en-IN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 with Moving Average:</a:t>
            </a:r>
            <a:r>
              <a:rPr lang="en-I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monthly sales trends and uses moving average to identify the overall demand pattern. </a:t>
            </a:r>
          </a:p>
        </p:txBody>
      </p:sp>
    </p:spTree>
    <p:extLst>
      <p:ext uri="{BB962C8B-B14F-4D97-AF65-F5344CB8AC3E}">
        <p14:creationId xmlns:p14="http://schemas.microsoft.com/office/powerpoint/2010/main" val="2660833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MATS Transport - Apps on Google Play">
            <a:extLst>
              <a:ext uri="{FF2B5EF4-FFF2-40B4-BE49-F238E27FC236}">
                <a16:creationId xmlns:a16="http://schemas.microsoft.com/office/drawing/2014/main" id="{156F9CB5-3C3A-5915-9BA8-8258D3EC5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5" name="Picture 4" descr="SIMATS CGPA Calculator">
            <a:extLst>
              <a:ext uri="{FF2B5EF4-FFF2-40B4-BE49-F238E27FC236}">
                <a16:creationId xmlns:a16="http://schemas.microsoft.com/office/drawing/2014/main" id="{5547D4CE-911B-09F5-7A32-710A80ADE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8D3B01-5FB9-19F6-3EFF-329E9AFB5AF6}"/>
              </a:ext>
            </a:extLst>
          </p:cNvPr>
          <p:cNvSpPr txBox="1"/>
          <p:nvPr/>
        </p:nvSpPr>
        <p:spPr>
          <a:xfrm>
            <a:off x="2864497" y="227076"/>
            <a:ext cx="648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262327-C691-3C94-E98F-559F88C8D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51" y="1249680"/>
            <a:ext cx="7763069" cy="5349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14AC77-FD18-657D-F4B8-F83166D3920E}"/>
              </a:ext>
            </a:extLst>
          </p:cNvPr>
          <p:cNvSpPr txBox="1"/>
          <p:nvPr/>
        </p:nvSpPr>
        <p:spPr>
          <a:xfrm>
            <a:off x="8319796" y="2537926"/>
            <a:ext cx="370425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vs Popularity Analysis: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relationship between product price and popularity.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10 Styles by Sales: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the ten styles with the highest sales volume.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 Slicer: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sales analysis for a selected season.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Slicer: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filtering the dashboard by month. </a:t>
            </a:r>
          </a:p>
          <a:p>
            <a:pPr lvl="0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Slicer: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analysis of a selected product style.</a:t>
            </a:r>
          </a:p>
        </p:txBody>
      </p:sp>
    </p:spTree>
    <p:extLst>
      <p:ext uri="{BB962C8B-B14F-4D97-AF65-F5344CB8AC3E}">
        <p14:creationId xmlns:p14="http://schemas.microsoft.com/office/powerpoint/2010/main" val="2782032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MATS Transport - Apps on Google Play">
            <a:extLst>
              <a:ext uri="{FF2B5EF4-FFF2-40B4-BE49-F238E27FC236}">
                <a16:creationId xmlns:a16="http://schemas.microsoft.com/office/drawing/2014/main" id="{48EEA536-04DA-C877-7FC6-646504DEB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5" name="Picture 4" descr="SIMATS CGPA Calculator">
            <a:extLst>
              <a:ext uri="{FF2B5EF4-FFF2-40B4-BE49-F238E27FC236}">
                <a16:creationId xmlns:a16="http://schemas.microsoft.com/office/drawing/2014/main" id="{8F24F0E8-CC67-FBBA-8320-BD7745A5D0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1D40ED-3F61-88C2-6BA3-AEBAC9A89677}"/>
              </a:ext>
            </a:extLst>
          </p:cNvPr>
          <p:cNvSpPr txBox="1"/>
          <p:nvPr/>
        </p:nvSpPr>
        <p:spPr>
          <a:xfrm>
            <a:off x="2864497" y="227076"/>
            <a:ext cx="6484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Output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5908EB-A335-562F-CFA0-BEC8E772F6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665" y="1217022"/>
            <a:ext cx="9647853" cy="44559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49C460-04CD-9716-AD30-469DB34173D9}"/>
              </a:ext>
            </a:extLst>
          </p:cNvPr>
          <p:cNvSpPr txBox="1"/>
          <p:nvPr/>
        </p:nvSpPr>
        <p:spPr>
          <a:xfrm>
            <a:off x="1446245" y="5799927"/>
            <a:ext cx="9078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Sunburst Chart: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hierarchical relationship between category, style, and sales volume. 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 — Seasonal Sales Distribution: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the distribution and variation of sales volume across different seasons.</a:t>
            </a:r>
          </a:p>
        </p:txBody>
      </p:sp>
    </p:spTree>
    <p:extLst>
      <p:ext uri="{BB962C8B-B14F-4D97-AF65-F5344CB8AC3E}">
        <p14:creationId xmlns:p14="http://schemas.microsoft.com/office/powerpoint/2010/main" val="2482841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RESULTS AND DISCUSSION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96334" y="1707502"/>
            <a:ext cx="3781137" cy="4190378"/>
          </a:xfrm>
          <a:prstGeom prst="roundRect">
            <a:avLst>
              <a:gd name="adj" fmla="val 2857"/>
            </a:avLst>
          </a:prstGeom>
          <a:solidFill>
            <a:srgbClr val="FCF6F5"/>
          </a:solidFill>
          <a:ln w="19050">
            <a:solidFill>
              <a:srgbClr val="02C39A"/>
            </a:solidFill>
            <a:prstDash val="solid"/>
          </a:ln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0" descr="/home/claude/capstone/ar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302" y="1838131"/>
            <a:ext cx="3367418" cy="279918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378703" y="4617720"/>
            <a:ext cx="362736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turned raw sales data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clear, actionable insights</a:t>
            </a:r>
            <a:endParaRPr lang="en-US" sz="1400" dirty="0"/>
          </a:p>
        </p:txBody>
      </p:sp>
      <p:pic>
        <p:nvPicPr>
          <p:cNvPr id="22" name="Picture 21" descr="SIMATS Transport - Apps on Google Play">
            <a:extLst>
              <a:ext uri="{FF2B5EF4-FFF2-40B4-BE49-F238E27FC236}">
                <a16:creationId xmlns:a16="http://schemas.microsoft.com/office/drawing/2014/main" id="{D64EE320-5AE9-FC3C-41B3-11B2529C30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24" name="Picture 23" descr="SIMATS CGPA Calculator">
            <a:extLst>
              <a:ext uri="{FF2B5EF4-FFF2-40B4-BE49-F238E27FC236}">
                <a16:creationId xmlns:a16="http://schemas.microsoft.com/office/drawing/2014/main" id="{3C7C3D76-E821-3C37-F432-97701779E6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6D0C441-E0D8-A9BA-3897-685F773064AF}"/>
              </a:ext>
            </a:extLst>
          </p:cNvPr>
          <p:cNvSpPr txBox="1"/>
          <p:nvPr/>
        </p:nvSpPr>
        <p:spPr>
          <a:xfrm>
            <a:off x="315745" y="1698172"/>
            <a:ext cx="7451988" cy="4552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Sales Distribution: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Violin plots will show how sales volume varies across different seasons and help identify high-demand and low-demand seasons.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Category–Style Proportion: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Sunburst charts will show the proportion of different categories and styles and help identify the most important product groups.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Demand Trends: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time-series graphs will show how sales change month by month for different categories and styles.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Trend Forecasting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Moving Average graphs will smooth sales fluctuations and help identify the overall demand trend and future demand patterns.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Price–Popularity Relationship: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charts will show the relationship between product price and popularity, with bubble size representing sales volume.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Decision Support: 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visualizations will help identify seasonal demand peaks, popular styles, demand trends, and price-popularity relationships, supporting better merchandising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0648" y="28728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ADVANTAGES &amp; APPLICATIONS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 descr="SIMATS Transport - Apps on Google Play">
            <a:extLst>
              <a:ext uri="{FF2B5EF4-FFF2-40B4-BE49-F238E27FC236}">
                <a16:creationId xmlns:a16="http://schemas.microsoft.com/office/drawing/2014/main" id="{532BA35E-B21F-4904-93EA-28080E742B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37" name="Picture 36" descr="SIMATS CGPA Calculator">
            <a:extLst>
              <a:ext uri="{FF2B5EF4-FFF2-40B4-BE49-F238E27FC236}">
                <a16:creationId xmlns:a16="http://schemas.microsoft.com/office/drawing/2014/main" id="{59B3E144-0348-656F-921C-1C32CDED1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A3D5490-7637-B75A-3232-4074E89E3EAE}"/>
              </a:ext>
            </a:extLst>
          </p:cNvPr>
          <p:cNvSpPr txBox="1"/>
          <p:nvPr/>
        </p:nvSpPr>
        <p:spPr>
          <a:xfrm>
            <a:off x="548640" y="1611703"/>
            <a:ext cx="5758854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seasonal demand patterns easily.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popular fashion categories and styles.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large sales data easier to understand through visualizations.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sales trends and future demand patterns.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the relationship between product price and popularity.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better inventory and merchandising decisions.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A76B01-4121-6D21-1204-8CF71F53F3DE}"/>
              </a:ext>
            </a:extLst>
          </p:cNvPr>
          <p:cNvSpPr txBox="1"/>
          <p:nvPr/>
        </p:nvSpPr>
        <p:spPr>
          <a:xfrm>
            <a:off x="6702759" y="1559765"/>
            <a:ext cx="4846113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retail stores.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fashion and e-commerce platforms.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Clothing and apparel brands.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inventory management.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demand analysis.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Merchandising and product planning.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FUTURE ENHANCEMENTS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 descr="SIMATS Transport - Apps on Google Play">
            <a:extLst>
              <a:ext uri="{FF2B5EF4-FFF2-40B4-BE49-F238E27FC236}">
                <a16:creationId xmlns:a16="http://schemas.microsoft.com/office/drawing/2014/main" id="{4535AF24-E9E2-9DB6-14EF-0213CBEA2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33" name="Picture 32" descr="SIMATS CGPA Calculator">
            <a:extLst>
              <a:ext uri="{FF2B5EF4-FFF2-40B4-BE49-F238E27FC236}">
                <a16:creationId xmlns:a16="http://schemas.microsoft.com/office/drawing/2014/main" id="{589EC5BD-5F5B-5140-273A-56A52C9D7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8097" y="101600"/>
            <a:ext cx="1100783" cy="102311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2EF1A0-03F7-168E-7C9E-AF67F9C12F88}"/>
              </a:ext>
            </a:extLst>
          </p:cNvPr>
          <p:cNvSpPr txBox="1"/>
          <p:nvPr/>
        </p:nvSpPr>
        <p:spPr>
          <a:xfrm>
            <a:off x="1655157" y="1916281"/>
            <a:ext cx="915333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Artificial Intelligence to improve fashion trend prediction.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Machine Learning algorithms to achieve more accurate demand forecasting.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dashboard to monitor live sales and changing customer demand.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 personalized recommendation system to suggest products based on customer preferences.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the platform with cloud databases for storing and analyzing large amounts of fashion sales data.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so retailers can easily access sales trends and business insights.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85800" y="2702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CONCLUSION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Picture 20" descr="SIMATS Transport - Apps on Google Play">
            <a:extLst>
              <a:ext uri="{FF2B5EF4-FFF2-40B4-BE49-F238E27FC236}">
                <a16:creationId xmlns:a16="http://schemas.microsoft.com/office/drawing/2014/main" id="{16762500-7977-790E-C385-0D9D49554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23" name="Picture 22" descr="SIMATS CGPA Calculator">
            <a:extLst>
              <a:ext uri="{FF2B5EF4-FFF2-40B4-BE49-F238E27FC236}">
                <a16:creationId xmlns:a16="http://schemas.microsoft.com/office/drawing/2014/main" id="{D941E495-3C9B-8986-4947-96A537DFB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637" y="101600"/>
            <a:ext cx="957243" cy="10231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48A05B-0352-D31E-85B9-BD9BAD8E9AEC}"/>
              </a:ext>
            </a:extLst>
          </p:cNvPr>
          <p:cNvSpPr txBox="1"/>
          <p:nvPr/>
        </p:nvSpPr>
        <p:spPr>
          <a:xfrm>
            <a:off x="1787314" y="1895989"/>
            <a:ext cx="8614323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converts raw fashion sales data into meaningful and easy-to-understand insights.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Fashion products are categorized based on category, style, and season for better analysis.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demand patterns can be identified using data visualization techniques.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sales trends can be analyzed and future demand can be estimated using Moving Average.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and popularity relationships can be studied to understand customer preferences.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helps retailers make better decisions related to merchandising, inventory planning, and product selection.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IMATS Transport - Apps on Google Play">
            <a:extLst>
              <a:ext uri="{FF2B5EF4-FFF2-40B4-BE49-F238E27FC236}">
                <a16:creationId xmlns:a16="http://schemas.microsoft.com/office/drawing/2014/main" id="{E6D30478-C289-4B19-5B5A-12DF36F49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6125" y="118872"/>
            <a:ext cx="2357647" cy="1130808"/>
          </a:xfrm>
          <a:prstGeom prst="rect">
            <a:avLst/>
          </a:prstGeom>
        </p:spPr>
      </p:pic>
      <p:pic>
        <p:nvPicPr>
          <p:cNvPr id="5" name="Picture 4" descr="SIMATS CGPA Calculator">
            <a:extLst>
              <a:ext uri="{FF2B5EF4-FFF2-40B4-BE49-F238E27FC236}">
                <a16:creationId xmlns:a16="http://schemas.microsoft.com/office/drawing/2014/main" id="{8B9AFCE3-1FE5-591E-0E87-1F990C56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637" y="101600"/>
            <a:ext cx="957243" cy="1023112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5CF045A3-6F65-A5DA-F53F-DC3CA5F65C2F}"/>
              </a:ext>
            </a:extLst>
          </p:cNvPr>
          <p:cNvSpPr/>
          <p:nvPr/>
        </p:nvSpPr>
        <p:spPr>
          <a:xfrm>
            <a:off x="685800" y="270256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00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REFERENCES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8576A5-484A-6A98-322C-7D82D899523D}"/>
              </a:ext>
            </a:extLst>
          </p:cNvPr>
          <p:cNvSpPr txBox="1"/>
          <p:nvPr/>
        </p:nvSpPr>
        <p:spPr>
          <a:xfrm>
            <a:off x="979713" y="1576873"/>
            <a:ext cx="10639138" cy="475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Koren, M., Perlman, Y., &amp;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Shnaiderman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(2026).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Unveiling the power of social networks in demand prediction for substitutable fashion products. International Journal of Fashion Design, Technology and Education, 1-12.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Abeysooriya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P., Dahanayake Yapa, T. S., &amp;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Mataraarachchi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(2026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From rule to intelligence: a review of algorithmic heuristics in fashion retailing. Journal of Fashion Marketing and Management: An International Journal, 1-26.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Kayode, O., Luz, A., &amp; Herry, J. (2025).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Demand Forecasting in Ethical Fashion: Bridging Sustainability and Smart Technology.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Castro, I., &amp; do Amaral, I. (2025, November).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 of AI in Fashion Industry for Trend Forecasting: An Introduction to the Literature Review. In International Conference on Design and Digital Communication (pp. 189-201). Cham: Springer Nature Switzerland.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Kayode, O., Luz, A., &amp; Herry, J. (2025).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for Demand Forecasting in Ethical Fashion: Bridging Sustainability and Smart Technology.</a:t>
            </a:r>
          </a:p>
        </p:txBody>
      </p:sp>
    </p:spTree>
    <p:extLst>
      <p:ext uri="{BB962C8B-B14F-4D97-AF65-F5344CB8AC3E}">
        <p14:creationId xmlns:p14="http://schemas.microsoft.com/office/powerpoint/2010/main" val="228569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A875959A-CD50-1314-C493-3926757E3A54}"/>
              </a:ext>
            </a:extLst>
          </p:cNvPr>
          <p:cNvSpPr txBox="1"/>
          <p:nvPr/>
        </p:nvSpPr>
        <p:spPr>
          <a:xfrm>
            <a:off x="3175000" y="2394863"/>
            <a:ext cx="58420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5000">
                  <a:schemeClr val="accent1">
                    <a:lumMod val="45000"/>
                    <a:lumOff val="55000"/>
                  </a:schemeClr>
                </a:gs>
                <a:gs pos="56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r>
              <a:rPr lang="en-IN" sz="7200" b="1" i="1" dirty="0">
                <a:solidFill>
                  <a:schemeClr val="accent2">
                    <a:lumMod val="50000"/>
                  </a:schemeClr>
                </a:solidFill>
                <a:latin typeface="Algerian" panose="04020705040A02060702" pitchFamily="82" charset="0"/>
                <a:ea typeface="Cambria" panose="02040503050406030204" pitchFamily="18" charset="0"/>
              </a:rPr>
              <a:t>THANK YOU!!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1922</Words>
  <Application>Microsoft Office PowerPoint</Application>
  <PresentationFormat>Widescreen</PresentationFormat>
  <Paragraphs>205</Paragraphs>
  <Slides>18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Algerian</vt:lpstr>
      <vt:lpstr>Arial</vt:lpstr>
      <vt:lpstr>Calibri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akkupalliroja2425@gmail.com</cp:lastModifiedBy>
  <cp:revision>9</cp:revision>
  <dcterms:created xsi:type="dcterms:W3CDTF">2026-07-30T03:55:26Z</dcterms:created>
  <dcterms:modified xsi:type="dcterms:W3CDTF">2026-08-29T03:55:00Z</dcterms:modified>
</cp:coreProperties>
</file>